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BEB02F-8B1F-14F9-8372-1581B68B3CDC}" v="38" dt="2026-03-23T17:28:35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18C3E-5A0F-428E-BA6D-9D4ABFD31B2B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C4F5B-7E0B-4DCE-BFEF-ECC01A6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7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to McGrath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Proposal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BayOne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1920240" cy="10058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868680"/>
            <a:ext cx="1920240" cy="10058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56032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868680"/>
            <a:ext cx="1920240" cy="10058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66344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868680"/>
            <a:ext cx="1920240" cy="10058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6656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7665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103120"/>
            <a:ext cx="73152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Service Offerings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514600"/>
            <a:ext cx="73152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Delivery Model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73152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580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Referral Rate: 90%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Helps Transform Companies — 90% of customers from direct referrals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Awards &amp; Recognition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26517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68680"/>
            <a:ext cx="265176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Supplier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6517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868680"/>
            <a:ext cx="265176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290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2900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of the Quarter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6517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26480" y="868680"/>
            <a:ext cx="265176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636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 Supplier Performance Award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377440"/>
            <a:ext cx="26517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2377440"/>
            <a:ext cx="265176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Program Engagement Transformation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91840" y="2377440"/>
            <a:ext cx="26517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291840" y="2377440"/>
            <a:ext cx="265176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2900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Valuable Supplier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26480" y="2377440"/>
            <a:ext cx="26517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126480" y="2377440"/>
            <a:ext cx="265176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63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of Top 5 Suppliers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#MakeTechPurple Initiative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#MakeTechPurple is dedicated to bridging the gender divide in tech through dynamic upskilling and reskilling programs, ensuring women secure and thrive in lasting tech careers.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92024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603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Placed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Tech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192024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26%→46%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634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66560" y="1371600"/>
            <a:ext cx="192024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665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514600"/>
            <a:ext cx="2651760" cy="123444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2514600"/>
            <a:ext cx="45720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Cohorts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Women from underserved communities with</a:t>
            </a:r>
            <a:r>
              <a:rPr lang="en-US" sz="8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months of pro-bono technical training in AI and Software Engineering.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91840" y="2514600"/>
            <a:ext cx="2651760" cy="123444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91840" y="2514600"/>
            <a:ext cx="45720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2900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 Empowerment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42900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Pleasanton Unified School District to mentor middle &amp; high school girls and provide Girls Who Code scholarships.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26480" y="2514600"/>
            <a:ext cx="2651760" cy="123444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126480" y="2514600"/>
            <a:ext cx="45720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6364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Delivery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6364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hires grew from 26% to 46% through fair selection, the Rooney Rule, and AI-powered diverse candidate sourcing.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54864" cy="123444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896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Embedded Team Advantage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207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BayOne resources already inside MGRC’s NextGen program. Institutional knowledge no competitor can replicate. Zero KT risk.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54864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896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Governance-Led MSP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partner with SLA-driven operations, tiered governance, FreshService ITSM + Jira agile sprints. Not a staffing agency.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240280"/>
            <a:ext cx="54864" cy="123444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Go-Live Focus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2624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 → optimization → transformation. Phased approach from day-one incident management to AI-driven automation.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24028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Coverage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2624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Fusion, Salesforce CPQ, MuleSoft/OIC integrations, Avalara, RecVue, Customer Hub, NexSTAR — 13 towers, one team.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is uniquely positioned as the only vendor with embedded resources, institutional knowledge, and Bay Area proximity to deliver a seamless post go-live MSP.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Summary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4023360" cy="25603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45720" cy="2560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Enablers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1207008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188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understanding of support processes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1444752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in industry tools &amp; technology platforms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" y="1682496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16642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multiple customers for similar services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0080" y="1920240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1901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class operating model &amp; service design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" y="2157984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visibility &amp; improvement through automation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0080" y="2395728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quality through operational audits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0080" y="2633472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26151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governance for operational excellence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40080" y="2871216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2960" y="2852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resourcing model per customer needs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0080" y="3108960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2960" y="3090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induction &amp; training academy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822960"/>
            <a:ext cx="4023360" cy="25603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63440" y="822960"/>
            <a:ext cx="45720" cy="2560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4632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 &amp; Metrics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46320" y="1234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29200" y="1435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self-serve ↑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29200" y="160934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GenAI interventions ↑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29200" y="17830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headcount ↓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4632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0" y="21671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↑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29200" y="234086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↑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029200" y="2514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touches ↓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4632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029200" y="2898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cycle time ↓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29200" y="30723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standardization ↑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29200" y="32461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↑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Leadership  •  Governance &amp; People  •  Process &amp;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RFP Scope Summary — Our Understanding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615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systems, managing integrations, restarting stuck workflows, ticket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backlog, configuration improvements, changes with &lt;40 hrs per unit 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Fixes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go-live / implementation defects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Releases &amp;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Fusion quarterly patches, regression testing, production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Troubleshooting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50+ integrations, root cause analysis, restarting stuck processes across MuleSoft/OIC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Added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&amp; AI to create support efficiencies and reduce support 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200400"/>
            <a:ext cx="4023360" cy="91440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57200" y="3200400"/>
            <a:ext cx="45720" cy="91440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/>
          <p:cNvSpPr/>
          <p:nvPr/>
        </p:nvSpPr>
        <p:spPr>
          <a:xfrm>
            <a:off x="64008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SLAs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3493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am – 5 pm PST coverage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 P1 Support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63440" y="3200400"/>
            <a:ext cx="4023360" cy="91440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63440" y="3200400"/>
            <a:ext cx="45720" cy="91440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8463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3493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development (separate SOW)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Journey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is not just an Oracle Fusion migration — it’s a complete ecosystem overhaul spanning CRM, ERP, billing, tax, customer portal &amp; a massive integration layer.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474720" cy="25603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474720" cy="32004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5486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environment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212848"/>
            <a:ext cx="5486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integration layers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596896"/>
            <a:ext cx="5486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systems &amp; processes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980944"/>
            <a:ext cx="5486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self-serve capabilities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364992"/>
            <a:ext cx="5486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3346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2336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393192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029200" y="1371600"/>
            <a:ext cx="3657600" cy="25603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212080" y="1828800"/>
            <a:ext cx="54864" cy="182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39496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total cost of ownership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212080" y="2212848"/>
            <a:ext cx="54864" cy="182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39496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processes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212080" y="2596896"/>
            <a:ext cx="54864" cy="182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9496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cycle time &amp; no-touch support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212080" y="2980944"/>
            <a:ext cx="54864" cy="182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39496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customer self-service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212080" y="3364992"/>
            <a:ext cx="54864" cy="182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394960" y="3346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market for new business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Level Support Process Flow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End-to-End Ownership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023360" cy="201168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5720" cy="20116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 / L1 Flow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support email / VM received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FreshService ticket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093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Route: Is this a supported ticket?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386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Yes → L2/L3 Flow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2679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If No → Inform user &amp; close ticket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143000"/>
            <a:ext cx="4023360" cy="201168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63440" y="1143000"/>
            <a:ext cx="45720" cy="20116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/ L3 Flow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4632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Acknowledge user &amp; assign ticket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 you resolve? → Resolve &amp; close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46320" y="2093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No → Assign to L3 team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46320" y="2386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3rd party ticket → Coordinate vendor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6320" y="2679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Knowledge DB &amp; close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Automation &amp; self-help opportunities will be identified and implemented to improve cycle time &amp; productivity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Model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2743200" cy="822960"/>
          </a:xfrm>
          <a:prstGeom prst="rect">
            <a:avLst/>
          </a:prstGeom>
          <a:solidFill>
            <a:srgbClr val="84419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86868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SMEs / Lead / PgMgr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91840" y="868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Requirements / Escalations →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Status Reports / Escalation Updates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0" y="868680"/>
            <a:ext cx="2743200" cy="82296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86868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 Management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2743200" cy="822960"/>
          </a:xfrm>
          <a:prstGeom prst="rect">
            <a:avLst/>
          </a:prstGeom>
          <a:solidFill>
            <a:srgbClr val="84419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Support Engineers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→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Status Updates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43600" y="2011680"/>
            <a:ext cx="2743200" cy="82296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 Team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154680"/>
            <a:ext cx="2743200" cy="822960"/>
          </a:xfrm>
          <a:prstGeom prst="rect">
            <a:avLst/>
          </a:prstGeom>
          <a:solidFill>
            <a:srgbClr val="84419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ADM Practice / CoEs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91840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Guidance / Escalation Updates →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Periodic Reports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943600" y="3154680"/>
            <a:ext cx="2743200" cy="82296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 Escalation Matrix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multi-level escalation framework ensures rapid issue resolution, clear accountability and proactive risk mitigation.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706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Triggers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breach risk, recurring defects, minor timeline delays, resource constraints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cc: 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breach, high priority issues not resolved, quality issues, high defect rates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Manager, DM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cc: US Sales Head, 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dissatisfaction, formal complaints, contractual risks, commercial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CEO, 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cc: AM, DM, US Sales 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account risk, legal/compliance issues, significant financial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Service Governance &amp; Reporting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68680"/>
            <a:ext cx="54864" cy="9144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377440" y="9144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McGrath: Leadership  |  BayOne: BRM / Delivery Manager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77440" y="1234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roadmap (AI, automation), business outcomes &amp; values delivered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54864" cy="91440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377440" y="2011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McGrath: Manager  |  BayOne: Program Mgr / Project Mgr / DM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377440" y="23317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effectiveness, resource planning, SLA/KPI performance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063240"/>
            <a:ext cx="54864" cy="914400"/>
          </a:xfrm>
          <a:prstGeom prst="rect">
            <a:avLst/>
          </a:prstGeom>
          <a:solidFill>
            <a:srgbClr val="EF5F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F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377440" y="31089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McGrath: Team / Leads  |  BayOne: BayOne support team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377440" y="34290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risks &amp; issues, blockers, open incidents, P1/P2 focus &amp; quality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Alignment: Communication • Value Adds • Continuous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High Level RACI Matrix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68224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Description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McGrath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L2/L3 Incident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L0/L1 Triage &amp;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&amp;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Oracle Patch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 Backlog Prioritization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Monitoring (MuleSoft/OIC)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Environment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Reporting &amp; Metrics (MBR, QBR)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Party Vendor 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 (SOX/PCI)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 A = Accountable    C = Consulted    I = Informed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RACI to be finalized during Phase 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Discovery Phase &amp; Transition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2011680" cy="24688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2011680" cy="5486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" y="978408"/>
            <a:ext cx="274320" cy="27432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1208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Preliminary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66928" y="19659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meeting, access to infrastructure, documentation review, risk assessment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606040" y="822960"/>
            <a:ext cx="2011680" cy="24688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606040" y="822960"/>
            <a:ext cx="2011680" cy="5486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0604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670048" y="978408"/>
            <a:ext cx="274320" cy="274320"/>
          </a:xfrm>
          <a:prstGeom prst="ellipse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70048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15768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Acquisition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15768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715768" y="19659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assessment, system architecture review, integration assessment, data flow overview, test case execution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0" y="822960"/>
            <a:ext cx="2011680" cy="24688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54880" y="822960"/>
            <a:ext cx="2011680" cy="5486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818888" y="978408"/>
            <a:ext cx="274320" cy="27432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18888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64608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 Support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64608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7–10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4608" y="19659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meetings &amp; calls with stakeholders, document observed processes, identify areas for additional training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903720" y="822960"/>
            <a:ext cx="2011680" cy="24688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903720" y="822960"/>
            <a:ext cx="2011680" cy="5486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0372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967728" y="978408"/>
            <a:ext cx="274320" cy="274320"/>
          </a:xfrm>
          <a:prstGeom prst="ellipse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967728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013448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Shadow &amp; Ownership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013448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11–13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013448" y="19659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live tickets with incumbent supervision, receive feedback, ensure SLA adherence, knowledge validation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8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McGrath Responsibilities: Facilitating KT  •  Access to environment  •  Collaborative support with incumbent  •  Monitoring progress &amp; reviews  •  Feedback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Maturity &amp; Value Transformation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2743200" cy="27432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274320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Onsite: 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Offshore: 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~1800 tickets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enh hrs/qtr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Enhancement: 10% / 90%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37560" y="822960"/>
            <a:ext cx="2743200" cy="27432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37560" y="822960"/>
            <a:ext cx="2743200" cy="45720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3756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Onsite: 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Offshore: 20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~2500 tickets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enh hrs/qtr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7472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Enhancement: 30% / 70%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17920" y="822960"/>
            <a:ext cx="2743200" cy="27432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17920" y="822960"/>
            <a:ext cx="274320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1792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Onsite: 9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Offshore: 22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~3300 tickets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enh hrs/qtr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550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Enhancement: 15% / 85%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BayOne handles ±5% spikes (seasonal, month-end, quarter-end). Resource count is indicative — excludes PMO &amp; automation office. Burst capacity available for unplanned spikes.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Coverage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5925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SMEs — Fusion, Salesforce, MuleSoft, Avalara, RecVue, BI Reporting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 (USA), Project Manager (India)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Apps (Customer Hub, NexSTAR)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Support Engineers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critical incidents &amp; urgent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Collaborating with end users &amp; business teams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management, communication, metrics / reporting, risk &amp; issues management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Engineers, QA, Documentation specialists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Resolving tickets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updates, playbook &amp; runbook creation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enhancements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57200" y="3200400"/>
            <a:ext cx="45720" cy="5486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100% of governance, SMEs, Business Engagement Managers and 80% of engineers available during 5 am – 5 pm PST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Quality Audit Process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4023360" cy="146304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45720" cy="14630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On-boarding Phase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188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on-boarding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/ enhancements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/ automations / efficiencies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023360" cy="146304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45720" cy="14630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State Phase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Conduct process review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0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process gaps / inconsistency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46320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 improved / standardized process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46320" y="1847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Perform root cause analysis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6320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knowledge repository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51460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2496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quality control audit process in place at each phase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28163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close process gaps &amp; data inconsistency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15468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3136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cycle for better service quality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Automation — Phased Approach for Real Outcomes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2743200" cy="30175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274320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 &amp; Operate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1664208"/>
            <a:ext cx="36576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FreshService ticket auto-classification &amp; routing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2048256"/>
            <a:ext cx="36576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failure alerting &amp; auto-restart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66928" y="2432304"/>
            <a:ext cx="36576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24140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Oracle quarterly patch regression testing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2816352"/>
            <a:ext cx="36576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2798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auto-population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6928" y="3200400"/>
            <a:ext cx="36576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3182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On-boarding playbooks &amp; standardized processes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337560" y="822960"/>
            <a:ext cx="2743200" cy="30175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337560" y="822960"/>
            <a:ext cx="2743200" cy="45720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33756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&amp; Accelerate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47288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447288" y="1664208"/>
            <a:ext cx="36576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56616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ticket volume forecasting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447288" y="2048256"/>
            <a:ext cx="36576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56616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support BOTs for end users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447288" y="2432304"/>
            <a:ext cx="36576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566160" y="24140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enhancements (Customer Hub)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447288" y="2816352"/>
            <a:ext cx="36576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566160" y="2798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NexSTAR legacy code modernization via AI agents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447288" y="3200400"/>
            <a:ext cx="36576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566160" y="3182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visibility &amp; analytics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17920" y="822960"/>
            <a:ext cx="2743200" cy="30175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217920" y="822960"/>
            <a:ext cx="2743200" cy="4572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1792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&amp; Optimize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27648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2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327648" y="1664208"/>
            <a:ext cx="36576" cy="164592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44652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cash flow analytics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327648" y="2048256"/>
            <a:ext cx="36576" cy="164592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44652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process orchestration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327648" y="2432304"/>
            <a:ext cx="36576" cy="164592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446520" y="24140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MBR/QBR report generation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327648" y="2816352"/>
            <a:ext cx="36576" cy="164592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446520" y="2798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matching &amp; reconciliation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327648" y="3200400"/>
            <a:ext cx="36576" cy="164592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446520" y="3182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AI/GenAI for analytics &amp; insights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Improved productivity  •  Actionable insights  •  Cycle time improvement  •  Self-serve capability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Reporting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75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conformance  •  Effort variance for enhancements  •  Productivity improvement  •  Cost /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First Time Resolution  •  % tickets reopened  •  CSAT ratings  •  Enhancement defects leakage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SLA Adherence  •  Schedule variance  •  MTTR  •  Case 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237744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2359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to be mutually discussed &amp; agreed with McGrath during on-boarding Phase 1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57200" y="269748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26791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(start thru end 2026): Establish SLA baselines, start tracking &amp; reporting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8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 onwards: SLA compliance with applicable remedies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3337560"/>
            <a:ext cx="54864" cy="18288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0080" y="3319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list available in KPI tab of the response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795528"/>
            <a:ext cx="54864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ticket volume for L2/L3 support: ~1,400. Complexity ratio: 30% simple, 50% medium, 20% complex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54864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efforts: Simple 1 hr, Medium 3 hrs, Complex 8 hrs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1399032"/>
            <a:ext cx="54864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13807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tickets volume &lt; 10%, P3/P4 &gt; 90%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1700784"/>
            <a:ext cx="54864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16824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On-boarding / discovery phase used to baseline data. Deviations necessitate a change request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002536"/>
            <a:ext cx="54864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1984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 stakeholders present during discovery phase (Phase 1)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2304288"/>
            <a:ext cx="54864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count may be revised if ticket count deviates ±10% or integration count differs from RFP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2606040"/>
            <a:ext cx="54864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2587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MuleSoft integrations will migrate to OIC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907792"/>
            <a:ext cx="54864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2889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replica environment available to simulate &amp; recreate production issues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3209544"/>
            <a:ext cx="54864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31912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escalation coordination with third-party vendors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3511296"/>
            <a:ext cx="54864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34930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knowledge transfer sessions and handover documentation from incumbent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813048"/>
            <a:ext cx="54864" cy="16459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008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of ticketing tools, documentation repositories, and communication channels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114800"/>
            <a:ext cx="54864" cy="16459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0080" y="4096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(Cost of Living Adjustment) as applicable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844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 &amp; Documentation Availability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McGrath facilitation of KT plan. BayOne embedded team reduces dependency on incumbent.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teams provide environment access, system accesses &amp; approvals.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Unavailability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information shared by incumbent in timely manner. Delays may impact key SLAs.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Sign-offs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off entry/exit criteria. All necessary approvals, software, and timely accesses.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Volume Uncertainty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phase, robust KA plan, shadow &amp; reverse shadow phases. Leveraging tools &amp; automation.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BayOne operates from USA, Canada, Philippines, Costa Rica &amp; India. Continues global growth.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Gap / Attrition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engagement, succession planning, contingent resource pool, knowledge management.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1219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 &amp;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sharing by existing vendor. McGrath’s help to facilitate KT plan.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teams available for environment setup, system accesses &amp; approvals.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information required for support operations shared by incumbent in a timely manner.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Sign-offs &amp; Approvals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Entry/exit criteria sign-off. All necessary approvals, software, timely accesses.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Service Commercials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579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4419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$738,400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4419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$4,867,200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4419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$3,889,600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4419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$2,828,800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C2D6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$12,344,800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103120" y="2103120"/>
            <a:ext cx="1645920" cy="7315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10312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Savings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1031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3749040" y="2103120"/>
            <a:ext cx="1645920" cy="7315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74904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Savings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74904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0080" y="3044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assumes bundled managed services scope and associated efficiencies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3337560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" y="3319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for individual service components may vary if selected separately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" y="3611880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" y="35935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optimization includes stabilization, automation, and process maturity gains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57200" y="3886200"/>
            <a:ext cx="54864" cy="1463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0080" y="38679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absence of ticket volume data, pricing is derived from assumptions listed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 — Oracle Fusion Cloud HCM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Fusion Cloud HCM Implementation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70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national security agency — 30K+ record migration across Core HR, Payroll, Absence, Time &amp; Labour, Talent, Learning, Recruiting. Oracle Soar methodology.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Oracle Fusion Cloud HCM, OIC, Oracle Analytics Cloud, VBCS, OCI, Identity Cloud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20640" y="1143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20640" y="137160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Payroll: 12 days → 3 days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120640" y="156362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 approvals: 5–7 days → 4–8 hrs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120640" y="175564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accuracy: 98.6%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120640" y="194767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78% self-service adoption in 3 months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120640" y="2139696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Payroll errors: 150–200 → 8–12/cycle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Fusion Cloud HCM — Managed Services Support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2907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Post-implementation managed services for national security agency. SLA-driven incident management (P1–P4), quarterly updates, enhancements, security governance (SoD, audits, patching), and knowledge base.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20640" y="310896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95.7% SLA compliance, 100% P1 adherence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120640" y="330098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payroll failures, 99.8% uptime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20640" y="349300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Payroll processing: 4.5 hrs → 1.8 hrs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120640" y="368503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87% user satisfaction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 — Oracle ERP &amp; EBS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Accelerating Reporting for Oracle Fusion ERP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70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manufacturing enterprise — designed 25+ custom BI Publisher reports across Finance and SCM. Custom BIP data models, SQL queries, RTF layouts, automated report bursting &amp; email distribution.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AP Aging, AR Statements, Trial Balance, Open POs, Supplier Spend, Inventory Valuation, Sales Order Status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20640" y="1143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20640" y="137160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reduction in manual reconciliation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120640" y="156362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financial visibility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120640" y="175564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month-end closing cycles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120640" y="194767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integration with SCM, CRM, analytics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EBS Support — 12+ Year Partnership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2907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materials &amp; laser tech leader — 30+ global sites. EBS 11i to R12 upgrade, M&amp;A system consolidation (EBS &amp; Fusion), Finance, EPM, HCM, Procurement, Manufacturing, WMS support. Monthly/quarterly upgrade management.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2064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20640" y="310896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12+ years continuous partnership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120640" y="330098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M&amp;A data migration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120640" y="349300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90% loading in India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20640" y="368503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transformation advisory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 — Managed Services &amp; App Dev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4023360" cy="14630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4023360" cy="2286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C-Worker Transformation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11155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front &amp; back office support. Team: 40 (10 onsite, 30 offshore). SLA: 99%.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cost optimization on Day 1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transition, no disruption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15% manual effort reduction via automation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023360" cy="14630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4023360" cy="22860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Vulnerability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0" y="11155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&amp; DevOps vulnerability triaging. Team: 10 (2 onsite, 8 offshore).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Wiz reports for visibility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Jira ticket creation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efficiency across more projects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2468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Automotive — Analytical Enterprise Planning Tool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76148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Anaplan-like planning tool for resource allocation. AWS Lambda, Slack, GraphQL, Python, Jira. Team: 4 dev + 2 QA + 1 TPM. Hybrid USA + India.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visibility of resources, time &amp; money allocation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decision-making on resource allocation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reporting on software spend per program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Account Management Team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2743200" cy="105156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extracted_images/ppt/media/image1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05256"/>
            <a:ext cx="731520" cy="73152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8961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371600" y="1097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Surej KP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1371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37560" y="822960"/>
            <a:ext cx="2743200" cy="105156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337560" y="822960"/>
            <a:ext cx="2743200" cy="36576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extracted_images/ppt/media/image1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905256"/>
            <a:ext cx="731520" cy="73152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1960" y="8961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251960" y="1097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Neha Malhotra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51960" y="1371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Growth &amp; Customer Success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217920" y="822960"/>
            <a:ext cx="2743200" cy="105156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217920" y="822960"/>
            <a:ext cx="2743200" cy="36576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extracted_images/ppt/media/image1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905256"/>
            <a:ext cx="731520" cy="731520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8961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 Sponsor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7132320" y="1097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Sripriya K.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1371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274320" y="2057400"/>
            <a:ext cx="2057400" cy="9601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274320" y="2057400"/>
            <a:ext cx="205740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extracted_images/ppt/media/image1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2130552"/>
            <a:ext cx="594360" cy="594360"/>
          </a:xfrm>
          <a:prstGeom prst="ellipse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Relationship Manager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1005840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Zahra Syed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005840" y="2560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Co-Account Owner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2468880" y="2057400"/>
            <a:ext cx="2057400" cy="9601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2468880" y="2057400"/>
            <a:ext cx="205740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extracted_images/ppt/media/image1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2130552"/>
            <a:ext cx="594360" cy="594360"/>
          </a:xfrm>
          <a:prstGeom prst="ellipse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00400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3200400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Amit Grover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200400" y="2560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Solutions &amp; Delivery</a:t>
            </a:r>
            <a:endParaRPr lang="en-US" sz="700" dirty="0"/>
          </a:p>
        </p:txBody>
      </p:sp>
      <p:sp>
        <p:nvSpPr>
          <p:cNvPr id="36" name="Shape 28"/>
          <p:cNvSpPr/>
          <p:nvPr/>
        </p:nvSpPr>
        <p:spPr>
          <a:xfrm>
            <a:off x="4663440" y="2057400"/>
            <a:ext cx="2057400" cy="9601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4663440" y="2057400"/>
            <a:ext cx="205740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/home/claude/extracted_images/ppt/media/image1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2130552"/>
            <a:ext cx="594360" cy="594360"/>
          </a:xfrm>
          <a:prstGeom prst="ellipse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94960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AI</a:t>
            </a:r>
            <a:endParaRPr lang="en-US" sz="700" dirty="0"/>
          </a:p>
        </p:txBody>
      </p:sp>
      <p:sp>
        <p:nvSpPr>
          <p:cNvPr id="40" name="Text 31"/>
          <p:cNvSpPr/>
          <p:nvPr/>
        </p:nvSpPr>
        <p:spPr>
          <a:xfrm>
            <a:off x="5394960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 Moore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394960" y="2560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AI</a:t>
            </a:r>
            <a:endParaRPr lang="en-US" sz="700" dirty="0"/>
          </a:p>
        </p:txBody>
      </p:sp>
      <p:sp>
        <p:nvSpPr>
          <p:cNvPr id="42" name="Shape 33"/>
          <p:cNvSpPr/>
          <p:nvPr/>
        </p:nvSpPr>
        <p:spPr>
          <a:xfrm>
            <a:off x="6858000" y="2057400"/>
            <a:ext cx="2057400" cy="9601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858000" y="2057400"/>
            <a:ext cx="2057400" cy="36576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7" descr="/home/claude/extracted_images/ppt/media/image1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1152" y="2130552"/>
            <a:ext cx="594360" cy="594360"/>
          </a:xfrm>
          <a:prstGeom prst="ellipse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589520" y="2121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Lead</a:t>
            </a:r>
            <a:endParaRPr lang="en-US" sz="700" dirty="0"/>
          </a:p>
        </p:txBody>
      </p:sp>
      <p:sp>
        <p:nvSpPr>
          <p:cNvPr id="46" name="Text 36"/>
          <p:cNvSpPr/>
          <p:nvPr/>
        </p:nvSpPr>
        <p:spPr>
          <a:xfrm>
            <a:off x="7589520" y="2304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Kishore Elimineti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7589520" y="2560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Leader</a:t>
            </a:r>
            <a:endParaRPr lang="en-US" sz="700" dirty="0"/>
          </a:p>
        </p:txBody>
      </p:sp>
      <p:sp>
        <p:nvSpPr>
          <p:cNvPr id="48" name="Text 38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Review Cadence</a:t>
            </a:r>
            <a:endParaRPr lang="en-US" sz="11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1066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Kishore + MGRC leads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review, ticket health, SLA tracking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+ Amit + MGRC mgmt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delivery, CSAT, resource planning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+ Surej + Sripriya + MGRC VP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review, transformation 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441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leadership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roadmap, long-term planning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Team Biographies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777240"/>
            <a:ext cx="45720" cy="86868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extracted_images/ppt/media/image1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850392"/>
            <a:ext cx="713232" cy="713232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795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Neha Malhotra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0" y="795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  |  VP, Growth &amp; Customer Success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417320" y="103327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 of proven delivery experience across technology services, enterprise account leadership, and business operations. One of BayOne’s founding team members, instrumental in scaling the company to $80M+ revenue. Deep knowledge of MGRC’s business, stakeholders, and NextGen transformation. Founded #MakeTechPurple, placing 500+ women in tech careers. San Jose State University.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45720" cy="86868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extracted_images/ppt/media/image1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856232"/>
            <a:ext cx="713232" cy="713232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Zahra Syed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0" y="1801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Relationship Manager  |  Co-Account Owner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417320" y="203911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account leader with deep expertise in building trust-based partnerships with C-level stakeholders. Cultivated strong personal relationships with MGRC’s senior IT leadership over multiple years. Day-to-day relationship bridge between BayOne delivery and MGRC stakeholders. UC Irvine.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45720" cy="86868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extracted_images/ppt/media/image1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862072"/>
            <a:ext cx="713232" cy="713232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Surej KP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0" y="2807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 |  CEO &amp; Board Member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417320" y="304495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technology executive. Previously CEO of Intelliswift Software; CTO &amp; President at UST Global; Practice Head at Cognizant; Regional Director at TCS. Harvard Executive Leadership Development Program. Provides C-suite escalation access with personal commitment to the MGRC partnership.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" y="3794760"/>
            <a:ext cx="45720" cy="86868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extracted_images/ppt/media/image1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67912"/>
            <a:ext cx="713232" cy="713232"/>
          </a:xfrm>
          <a:prstGeom prst="ellipse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813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Amit Grover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29200" y="3813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  |  VP, Solutions &amp; Delivery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417320" y="405079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Senior Regional Director at HCL Technologies leading 70+ professionals; Senior Manager at Infosys (Supply Chain, Finance); Service Delivery Manager at Zensar for $25M+ IT Ops portfolio. Based at BayOne’s Pleasanton office. BITS Pilani. BayOne’s delivery escalation point for MGRC.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Team Biographies (continued)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8229600" cy="9601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777240"/>
            <a:ext cx="45720" cy="9601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extracted_images/ppt/media/image1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868680"/>
            <a:ext cx="749808" cy="749808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813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Sripriya K.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0" y="8138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 Sponsor  |  CTO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463040" y="105156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leader advising C-level executives on digital transformation through human-centered design thinking. Harvard Business School. Previously President &amp; CSE at LambdaTest; Strategy &amp; Analytics at Deloitte Consulting; SVP at UiPath; Global Delivery Leader at Cognizant. AI-first mindset champion and women in technology advocate.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57200" y="1874520"/>
            <a:ext cx="8229600" cy="96012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1874520"/>
            <a:ext cx="45720" cy="9601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extracted_images/ppt/media/image1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965960"/>
            <a:ext cx="749808" cy="749808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1911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 Moore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0" y="19110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AI &amp; Innovation  |  Director of AI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463040" y="214884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BayOne’s AI practice, driving AI-driven strategies for enterprise clients. Previously AI/ML Manager at Coherent Corp. Core expertise: AI, LLMs, Deep Learning, Intelligent Process Automation. Delivered enterprise AI solutions including CI/CD pipeline automation and UI conversion. Leads BayOne’s three-horizon AI roadmap for MGRC. Duquesne University.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8229600" cy="960120"/>
          </a:xfrm>
          <a:prstGeom prst="rect">
            <a:avLst/>
          </a:prstGeom>
          <a:solidFill>
            <a:srgbClr val="F3E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45720" cy="9601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extracted_images/ppt/media/image1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063240"/>
            <a:ext cx="749808" cy="749808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008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Kishore Elimineti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0" y="30083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C2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Program Lead  |  Program Leader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463040" y="324612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ERP &amp; AI Strategy leader. Spearheaded $100M+ programs including Oracle Fusion Cloud implementations. Former Oracle Corporation — led implementations at Redwood City campus, SAFe adoption, and M&amp;A integrations including $5.3B Micros acquisition. Managed Oracle Fusion Cloud at Albertsons. SAFe PM, Agile SM, Stanford APM. ISB. Currently embedded at MGRC leading NextGen transformation.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BayOne for McGrath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54864" cy="123444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896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Embedded Team Advantage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1704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resources already inside MGRC’s NextGen program. Institutional knowledge no competitor can replicate. Zero KT risk. $300–500K saved transition costs.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74720" y="960120"/>
            <a:ext cx="8686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0" y="9601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 Risk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82296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822960"/>
            <a:ext cx="54864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46320" y="896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Governance-Led MSP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1704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partner — not a staffing agency. SLA-driven operations with tiered governance. FreshService ITSM + Jira agile.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680960" y="960120"/>
            <a:ext cx="8686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80960" y="9601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CC297A"/>
                </a:solidFill>
                <a:latin typeface="Georgia"/>
                <a:ea typeface="Calibri" panose="020F0502020204030204"/>
                <a:cs typeface="Calibri" panose="020F0502020204030204"/>
              </a:rPr>
              <a:t>Clear line </a:t>
            </a:r>
            <a:r>
              <a:rPr lang="en-US" sz="1000" b="1">
                <a:solidFill>
                  <a:srgbClr val="CC297A"/>
                </a:solidFill>
                <a:latin typeface="Georgia"/>
                <a:ea typeface="Calibri" panose="020F0502020204030204"/>
                <a:cs typeface="Calibri" panose="020F0502020204030204"/>
              </a:rPr>
              <a:t>of O</a:t>
            </a:r>
            <a:r>
              <a:rPr lang="en-US" sz="1000" b="1" dirty="0">
                <a:solidFill>
                  <a:srgbClr val="CC297A"/>
                </a:solidFill>
                <a:latin typeface="Georgia"/>
                <a:ea typeface="Calibri" panose="020F0502020204030204"/>
                <a:cs typeface="Calibri" panose="020F0502020204030204"/>
              </a:rPr>
              <a:t>wnership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224028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2240280"/>
            <a:ext cx="54864" cy="123444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2313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 Area Proximity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25877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 HQ in Pleasanton, CA — 15 min from MGRC Livermore. Named account team. Face-to-face escalation and collaboration.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74720" y="2377440"/>
            <a:ext cx="8686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474720" y="23774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3440" y="2240280"/>
            <a:ext cx="4023360" cy="123444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46320" y="2313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 &amp; Innovation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25877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#MakeTechPurple: 500+ women placed, 46% women in delivery. NMSDC MBE certified. AI-first roadmap. Test automation for Oracle patches.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680960" y="2377440"/>
            <a:ext cx="8686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680960" y="23774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480060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Summary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2743200" cy="22860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for Long-Term Partnership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371600"/>
            <a:ext cx="45720" cy="274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353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approach &amp; knowledge management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1874520"/>
            <a:ext cx="45720" cy="274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1856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talent retention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377440"/>
            <a:ext cx="45720" cy="274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team continuity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37560" y="822960"/>
            <a:ext cx="2743200" cy="22860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337560" y="822960"/>
            <a:ext cx="2743200" cy="36576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3756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from BayOne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74720" y="1371600"/>
            <a:ext cx="45720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11880" y="1353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of shadow resources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74720" y="1874520"/>
            <a:ext cx="45720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11880" y="1856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during transition &amp; on-going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74720" y="2377440"/>
            <a:ext cx="45720" cy="274320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11880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for multi-year contract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822960"/>
            <a:ext cx="2743200" cy="2286000"/>
          </a:xfrm>
          <a:prstGeom prst="rect">
            <a:avLst/>
          </a:prstGeom>
          <a:solidFill>
            <a:srgbClr val="F8F4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217920" y="822960"/>
            <a:ext cx="2743200" cy="36576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1792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Benefits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55080" y="1371600"/>
            <a:ext cx="45720" cy="27432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92240" y="1353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Multi-skilling &amp; cross utilization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355080" y="1874520"/>
            <a:ext cx="45720" cy="27432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92240" y="1856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productivity benefits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355080" y="2377440"/>
            <a:ext cx="45720" cy="274320"/>
          </a:xfrm>
          <a:prstGeom prst="rect">
            <a:avLst/>
          </a:prstGeom>
          <a:solidFill>
            <a:srgbClr val="5C2D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92240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efficiencies through AI &amp;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Malhotra  |  VP, Growth &amp; Customer Success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neha.malhotra@bayone.com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44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deepening our partnership with McGrath RentCorp.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3494</Words>
  <Application>Microsoft Office PowerPoint</Application>
  <PresentationFormat>On-screen Show (16:9)</PresentationFormat>
  <Paragraphs>570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McGrath RentCorp | NextGen Post Go-Live Managed Services</dc:title>
  <dc:subject>PptxGenJS Presentation</dc:subject>
  <dc:creator>BayOne Solutions</dc:creator>
  <cp:lastModifiedBy>Colin Moore</cp:lastModifiedBy>
  <cp:revision>9</cp:revision>
  <dcterms:created xsi:type="dcterms:W3CDTF">2026-03-23T16:36:34Z</dcterms:created>
  <dcterms:modified xsi:type="dcterms:W3CDTF">2026-03-23T19:10:43Z</dcterms:modified>
</cp:coreProperties>
</file>