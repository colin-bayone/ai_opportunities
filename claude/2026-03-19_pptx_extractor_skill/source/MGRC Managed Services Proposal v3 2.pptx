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rts/chart1.xml" ContentType="application/vnd.openxmlformats-officedocument.drawingml.chart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B1DD0-47A6-4FFD-A7F7-08C1232FABA0}" v="1" dt="2026-03-23T20:44:32.464"/>
    <p1510:client id="{E37A3284-6BB9-942A-4F14-D1B29CF778C9}" v="6" dt="2026-03-23T19:05:09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08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</c:v>
                </c:pt>
              </c:strCache>
            </c:strRef>
          </c:tx>
          <c:spPr>
            <a:solidFill>
              <a:srgbClr val="8441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3333"/>
                    </a:solidFill>
                    <a:latin typeface="Calibri Ligh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Phase 1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738400</c:v>
                </c:pt>
                <c:pt idx="1">
                  <c:v>4867200</c:v>
                </c:pt>
                <c:pt idx="2">
                  <c:v>3889600</c:v>
                </c:pt>
                <c:pt idx="3">
                  <c:v>2828800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07-41C9-8E4C-C94DCB9ACA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Calibri Ligh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7A061-911E-4AE1-98ED-2F99969C4C19}" type="datetimeFigureOut"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615A4-BB7D-4CDF-BE83-6F054021B0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9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claude/extracted_images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200400"/>
            <a:ext cx="2011680" cy="11338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5488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McGRATH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to McGrath Support Proposal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NextGen Post Go-Live Managed Services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Solutions proposes a governance-led Managed Services Partnership for McGrath RentCorp’s NextGen ecosystem. With five embedded resources already operating within MGRC’s transformation program, BayOne offers the only zero-risk transition in this RFP — eliminating $300–500K in knowledge transfer costs and delivering Day 1 operational readiness across Oracle Fusion, Salesforce, MuleSoft, OIC, and the full integration layer.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1965960" cy="2103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96596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Embedded Advantage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resources inside MGRC today — institutional knowledge no competitor can replicate. Zero ramp-up, zero KT risk.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560320" y="1600200"/>
            <a:ext cx="1965960" cy="2103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560320" y="1600200"/>
            <a:ext cx="196596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5176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Governance-Led MSP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51760" y="20574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accountable partner. SLA-driven operations with strategic, tactical, and operational governance tiers.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600200"/>
            <a:ext cx="1965960" cy="2103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196596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Go-Live Focus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54880" y="20574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Hypercare → Stabilization → Optimization. Phased model designed for MGRC’s July 2026 MVP go-live.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66560" y="1600200"/>
            <a:ext cx="1965960" cy="2103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766560" y="1600200"/>
            <a:ext cx="196596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 Coverage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20574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 solution towers. Oracle Fusion, Salesforce CPQ, 70+ integrations, NexSTAR, BI, and infrastructure.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Value: </a:t>
            </a: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3-year engagement with progressive cost optimization — 20% savings in Year 2, 27% in Year 3 — through automation, process maturity, and multi-skilling.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BayOne Solutions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858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685800"/>
            <a:ext cx="1828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777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13+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Years in Business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3160" y="6858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3160" y="685800"/>
            <a:ext cx="1828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423160" y="777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51460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Customers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6858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89120" y="685800"/>
            <a:ext cx="1828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89120" y="777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48056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Professionals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55080" y="6858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55080" y="68580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55080" y="777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750+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446520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Projects Delivered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1965960"/>
            <a:ext cx="3931920" cy="22860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1965960"/>
            <a:ext cx="393192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Services &amp; Innovation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4360" y="237744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is a Bay Area-headquartered technology services firm delivering managed services, application development, cloud engineering, AI/ML solutions, and quality engineering to Fortune 500 and mid-market enterprises.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delivery from USA, Canada, India, Philippines, and Costa Rica with 24/7 coverage capabilities. NMSDC MBE certified diverse supplier.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663440" y="1965960"/>
            <a:ext cx="4023360" cy="22860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1965960"/>
            <a:ext cx="402336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00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Client Portfolio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0600" y="23774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Cisco  •  Google  •  Sephora  •  Netflix  •  Waymo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Splunk  •  Zoom  •  RingCentral  •  SAP  •  Fitbit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Clorox  •  Albertsons  •  Sony  •  Kimberly-Clark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 of all customers through direct referrals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Inc. 5000 • Top Supplier Awards from Cisco &amp; Google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46% women in delivery  •  #MakeTechPurple initiative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placing 500+ women in tech careers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Understanding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McGrath RentCorp’s NextGen Transformation &amp; Support Requirements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1A1A"/>
                </a:solidFill>
                <a:latin typeface="Georgia"/>
                <a:ea typeface="Georgia" pitchFamily="34" charset="-122"/>
                <a:cs typeface="Georgia" pitchFamily="34" charset="-120"/>
              </a:rPr>
              <a:t>High-level NextGen Ecosystem Architecture</a:t>
            </a:r>
            <a:endParaRPr lang="en-US" sz="2400" dirty="0">
              <a:latin typeface="Georgi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12–13 connected systems  •  70+ integrations  •  Complete ecosystem overhaul spanning CRM, ERP, billing, tax, portal &amp; integration layers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2560320" cy="8229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051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Salesforce CRM / CPQ / CLM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280 active users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0" y="1234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Quote/Order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749040" y="1051560"/>
            <a:ext cx="2560320" cy="8229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749040" y="10515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Fusion ERP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Finance, SCM, Procurement, O2C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234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Billing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949440" y="1051560"/>
            <a:ext cx="1737360" cy="8229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9440" y="1051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RecVue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 &amp; Revenue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057400"/>
            <a:ext cx="8321040" cy="640080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057400"/>
            <a:ext cx="83210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121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359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MuleSoft (~32 APIs)  |  Oracle Integration Cloud (~16 flows)  |  Real-time + Batch  |  ~5% retry/failure rate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8600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463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2880360"/>
            <a:ext cx="128016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Avalara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Tax Engine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1755648" y="2880360"/>
            <a:ext cx="141732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755648" y="289864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Hub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55648" y="32186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Portal (PCI)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82696" y="2880360"/>
            <a:ext cx="128016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282696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NexSTAR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282696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Legacy ERP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(VB→Java)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672584" y="2880360"/>
            <a:ext cx="128016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672584" y="28986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Snowflake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672584" y="3218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Warehouse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062472" y="2880360"/>
            <a:ext cx="123444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062472" y="2898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BI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062472" y="3218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FRS/OTBI/BIP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406640" y="2880360"/>
            <a:ext cx="1188720" cy="731520"/>
          </a:xfrm>
          <a:prstGeom prst="rect">
            <a:avLst/>
          </a:prstGeom>
          <a:solidFill>
            <a:srgbClr val="F5F0F7"/>
          </a:solidFill>
          <a:ln w="6350">
            <a:solidFill>
              <a:srgbClr val="8441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406640" y="2898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06640" y="3218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CI/CD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137160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01752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7200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↑↓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65760" y="3794760"/>
            <a:ext cx="8321040" cy="3657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Infrastructure:  5 SQL Servers  +  7 Oracle ATP Databases  +  OCI  +  Azure  |  SOX / PCI / NIST Compliance  |  July 2026 MVP Go-Live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Solution Towers — Full Scope Coverage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092440" cy="3328416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#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Solution Tower</a:t>
                      </a:r>
                      <a:endParaRPr lang="en-US" sz="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Scope</a:t>
                      </a:r>
                      <a:endParaRPr lang="en-US" sz="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Status</a:t>
                      </a:r>
                      <a:endParaRPr lang="en-US" sz="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Oracle Fusion (+FSM, EPBCS, ARCS)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Finance, SCM, Procurement, Mfg, O2C, HCM, Field Service, Planning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Salesforce (CRM, CPQ, CLM)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280 active users, Gearset CI/CD, DocuSign, D&amp;B, Zilliant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Oracle Integration Cloud (OIC)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~16 integration flows connecting Oracle ecosystem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MuleSoft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~32 integrations, API management, Salesforce middleware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RecVue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Billing &amp; revenue management — complex rental model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4A84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Bid*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Oracle Cloud Infrastructure (OCI)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ATP databases, backend SaaS infrastructure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7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Oracle BI Tools (FRS, OTBI, BIP)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Financial reporting, ad-hoc analytics, automated distribution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8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Snowflake / Rivery / SplashBI / Tableau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Data warehouse, ETL, analytics, visualization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4A84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Bid*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Avalara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Tax calculation across Salesforce, NexSTAR, RecVue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NexSTAR (Custom Legacy ERP)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30+ year legacy TRS-RenTelco, VB-to-Java conversion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4A84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Bid*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11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SQL Server / Oracle ATP Databases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 SQL Servers + 7 ATP databases, 24x7 DBA monitoring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 Hub (nopCommerce)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PCI-scoped customer portal, credit card transactions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4A84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Bid*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999999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13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Azure DevOps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Environment management, CI/CD, deployment services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A9D8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Bid</a:t>
                      </a:r>
                      <a:endParaRPr lang="en-US" sz="8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Full coverage    </a:t>
            </a:r>
            <a:r>
              <a:rPr lang="en-US" sz="850" b="1" dirty="0">
                <a:solidFill>
                  <a:srgbClr val="D4A84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Bid*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Specialist staffing refined during Phase 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RFP Scope Summary — Our Understanding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241401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Service Area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Description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Operational Support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Monitoring systems, managing integrations, restarting stuck workflows, ticket management via FreshService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Enhancements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MVP backlog, configuration improvements, changes with &lt;40 hrs per unit effort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Bug Fixes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 go-live / implementation defects across all 13 solution towers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Quarterly Releases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Oracle Fusion quarterly patches, regression testing, production validation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Integration Support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Monitoring 70+ integrations, root cause analysis, restarting stuck processes across MuleSoft / OIC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Value Added Services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AI &amp; automation to drive support efficiencies, reduce manual effort, improve cycle time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108960"/>
            <a:ext cx="3931920" cy="9144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393192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&amp; SLAs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34015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AM – 5 PM PST business hours  |  24-hour P1 on-call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baselines established in Phase 1; compliance from Jan 2027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0" y="3108960"/>
            <a:ext cx="4206240" cy="9144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72000" y="3108960"/>
            <a:ext cx="4206240" cy="3200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09160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09160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Engineering development (separate SOW)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/ network operations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L0 / L1 triage (retained by McGrath)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 Model, Governance Framework &amp; Transition Approach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Journey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NextGen is a complete ecosystem overhaul spanning front-end CRM, backend ERP, billing, tax, customer portal &amp; massive integration layer: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291840" cy="27432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188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Customized environment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205740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Integration Layers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242316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Complex systems &amp; processes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" y="278892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Limited Self Serve Capabilities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" y="315468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Limited Scalability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" y="3520440"/>
            <a:ext cx="2926080" cy="320040"/>
          </a:xfrm>
          <a:prstGeom prst="ellipse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quarterly patch testing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840480" y="20116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Simplify &amp; Streamline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Standardize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Automate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03520" y="1188720"/>
            <a:ext cx="3474720" cy="27432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035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0" y="169164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486400" y="1691640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623560" y="1691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Reduced Total cost of ownership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2039112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0" y="2039112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23560" y="2039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standard processes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86400" y="2386584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486400" y="2386584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623560" y="23865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Reduced cycle time &amp; no-touch support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2734056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486400" y="2734056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623560" y="27340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Enriched customer self service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486400" y="3081528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5486400" y="3081528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623560" y="3081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patch testing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486400" y="342900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86400" y="3429000"/>
            <a:ext cx="36576" cy="29260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562356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time to market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Level Support Process Flow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End-to-End Ownership — L2 / L3 Resolution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188720"/>
            <a:ext cx="1234440" cy="8686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Support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Email / VM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536192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83080" y="1188720"/>
            <a:ext cx="1234440" cy="8686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78308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FreshService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953512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188720"/>
            <a:ext cx="1234440" cy="86868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L0/L1 Triage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(McGrath)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70832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617720" y="1188720"/>
            <a:ext cx="123444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1772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L2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88152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0" y="1188720"/>
            <a:ext cx="1234440" cy="86868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3504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Acknowledge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Resolve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205472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52360" y="1188720"/>
            <a:ext cx="1234440" cy="868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52360" y="11887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KB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Close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65760" y="2286000"/>
            <a:ext cx="8412480" cy="256032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2286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Escalation: L2 → L3 (SME) → 3rd Party (Oracle SR / Salesforce / RecVue) → BayOne Management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65760" y="2743200"/>
            <a:ext cx="841248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65760" y="2743200"/>
            <a:ext cx="841248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02920" y="27432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&amp; self-help opportunities identified to improve cycle time and productivity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" y="3218688"/>
            <a:ext cx="841248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65760" y="3218688"/>
            <a:ext cx="841248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02920" y="3218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Agile support sprints via Jira for enhancements alongside FreshService ITSM ticketing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65760" y="3694176"/>
            <a:ext cx="841248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65760" y="3694176"/>
            <a:ext cx="841248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36941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database updated with every resolution — continuous improvement cycle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Escalation Matrix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2331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Escalation Level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Escalate to (Role)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Possible Triggers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Level 1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Project Manager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Program Manager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SLA breach risk, recurring defects, minor timeline delays, resource constraints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Level 2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Delivery Manager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cc: Account Manager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SLA breach, high priority issues not resolved within SLAs, quality issues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Level 3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Account Manager, Delivery Mgr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cc: US Sales Head, CTO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Customer dissatisfaction, formal complaints, contractual risks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Level 4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CEO, CTO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cc: Account Mgr, Delivery Mgr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Strategic account risk, legal/compliance issues, significant financial impact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structured, multi-level escalation framework ensures rapid issue resolution, clear accountability and proactive risk mitigation.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Service Governance &amp; Reporting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26974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640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 |  Quarterly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2697480" cy="27432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170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McGrath: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Leadership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1389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Relationship Mgr,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Manager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2514600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21031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Innovation roadmap (AI, automation)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outcomes &amp; values delivered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Overall service performance vs SLAs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640080"/>
            <a:ext cx="26974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46120" y="640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 |  Monthly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46120" y="1097280"/>
            <a:ext cx="2697480" cy="27432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337560" y="1170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McGrath: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37560" y="1389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Manager,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Manager,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Manager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37560" y="2011680"/>
            <a:ext cx="2514600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37560" y="21031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Efficiency &amp; Effectiveness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(Automations &amp; improvements)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Resource Planning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SLAs / KPIs performance review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26480" y="640080"/>
            <a:ext cx="26974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26480" y="640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 |  Daily / Weekly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1097280"/>
            <a:ext cx="2697480" cy="27432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17920" y="11704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McGrath: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17920" y="1389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BayOne: </a:t>
            </a: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Support Team,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Leads / Managers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217920" y="2011680"/>
            <a:ext cx="2514600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17920" y="210312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Risks &amp; Issues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Blockers, Dependencies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incidents, P1/P2 focus &amp; Quality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Responsibility Framework (RACI)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3182112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Domain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BayOne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McGrath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L2/L3 Incident Resolution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L0/L1 Triage &amp; Routing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Knowledge Base &amp; Documentation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Quarterly Oracle Patch Testing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 / I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Enhancement Backlog Prioritization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Integration Monitoring (MuleSoft/OIC)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Production Environment Access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SLA Reporting &amp; Metrics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3rd Party Vendor Coordination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Security &amp; Compliance (SOX/PCI)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 / 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</a:t>
            </a: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Responsible    </a:t>
            </a:r>
            <a:r>
              <a:rPr lang="en-US" sz="900" b="1" dirty="0">
                <a:solidFill>
                  <a:srgbClr val="8441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</a:t>
            </a: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Accountable    </a:t>
            </a:r>
            <a:r>
              <a:rPr lang="en-US" sz="900" b="1" dirty="0">
                <a:solidFill>
                  <a:srgbClr val="8441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</a:t>
            </a: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Consulted    </a:t>
            </a:r>
            <a:r>
              <a:rPr lang="en-US" sz="900" b="1" dirty="0">
                <a:solidFill>
                  <a:srgbClr val="8441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= Informed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Discovery Phase &amp; Transition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685800"/>
            <a:ext cx="1965960" cy="1417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713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1704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1–2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Kickoff, access setup,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review,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assessment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06040" y="685800"/>
            <a:ext cx="1965960" cy="1417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06040" y="713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06040" y="11704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3–6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9748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review,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 assessment,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case execution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54880" y="685800"/>
            <a:ext cx="1965960" cy="1417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713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11704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7–10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84632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Observe incumbents,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 processes,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clarify gaps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903720" y="685800"/>
            <a:ext cx="1965960" cy="141732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03720" y="7132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Shadow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Ownership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03720" y="11704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11–13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99516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Handle live tickets,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receive feedback,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adherence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65760" y="2377440"/>
            <a:ext cx="4114800" cy="15544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2377440"/>
            <a:ext cx="4114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Responsibilities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acquisition &amp; documentation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&amp; reverse-shadow execution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 gap identification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baseline establishment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Automation opportunity assessment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63440" y="2377440"/>
            <a:ext cx="4114800" cy="15544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2377440"/>
            <a:ext cx="4114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00600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McGrath Responsibilities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Facilitating knowledge transfer sessions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 &amp; infrastructure access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Collaborative support with incumbent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progress &amp; providing feedback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Stakeholder availability for discovery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Discovery Sprint — BayOne Investment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6400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proposes a 3–5 day on-site discovery sprint at McGrath Livermore — at our investment — to validate scope, baseline complexity, and de-risk the engagement before contract finalization.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697480" cy="2194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269748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298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441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1–2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527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18470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architecture walkthroughs with MGRC technical leads. Integration inventory validation (MuleSoft/OIC). Document undocumented customizations — the #1 risk identified.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234440"/>
            <a:ext cx="2697480" cy="2194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1234440"/>
            <a:ext cx="2697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37560" y="1298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27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Mapping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18470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current support workflows. Map ticket routing logic. Identify automation quick wins for FreshService and integration monitoring.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26480" y="1234440"/>
            <a:ext cx="2697480" cy="2194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26480" y="1234440"/>
            <a:ext cx="269748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0" y="12984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4–5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0" y="1527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Readout &amp; Baseline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17920" y="1847088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 findings to Garni’s team. Deliver refined staffing model based on actual complexity. Propose phased SLA targets grounded in data, not assumptions.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3611880"/>
            <a:ext cx="8412480" cy="5943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36118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matters: </a:t>
            </a: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other vendor will invest their own time to validate scope before asking MGRC to commit. This sprint replaces guesswork with data — and demonstrates BayOne’s confidence in our embedded advantage.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Maturity &amp; Value Transformation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20116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On-Board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 | Q1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65760" y="1097280"/>
            <a:ext cx="2011680" cy="25603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8912" y="11704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Onsite: 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38912" y="14173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Offshore: 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912" y="1719072"/>
            <a:ext cx="1865376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Transition: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acquisition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60320" y="640080"/>
            <a:ext cx="20116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Stabilize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Y1 Q1–Q4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560320" y="1097280"/>
            <a:ext cx="2011680" cy="25603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33472" y="11704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Onsite: 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33472" y="14173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Offshore: 22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633472" y="1719072"/>
            <a:ext cx="1865376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63347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~3,300 tickets +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1,500 enh hrs / qtr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33472" y="24231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Support: 90%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33472" y="26334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Enhancement: 10%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54880" y="640080"/>
            <a:ext cx="20116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75488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Y2 Q1–Q4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754880" y="1097280"/>
            <a:ext cx="2011680" cy="25603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28032" y="11704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Onsite: 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28032" y="14173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Offshore: 20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28032" y="1719072"/>
            <a:ext cx="1865376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2803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~2,500 tickets +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2,000 enh hrs / qtr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28032" y="24231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Support: 85%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28032" y="26334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Enhancement: 15%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949440" y="640080"/>
            <a:ext cx="20116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949440" y="640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State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949440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Y3 Q1–Q4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949440" y="1097280"/>
            <a:ext cx="2011680" cy="25603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022592" y="117043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Onsite: 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022592" y="14173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Offshore: 20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022592" y="1719072"/>
            <a:ext cx="1865376" cy="914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022592" y="1810512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~1,800 tickets +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3,000 enh hrs / qtr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22592" y="24231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A9D8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Support: 70%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022592" y="26334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Enhancement: 30%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65760" y="37947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handles ±5% spikes  •  Burst capacity available  •  Resource counts indicative (managed services, excl. PMO)  •  Progressive shift from support to enhancements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Coverage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23042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Location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Roles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Responsibilities</a:t>
                      </a:r>
                      <a:endParaRPr lang="en-US" sz="9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Onsite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(USA)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Functional SMEs – Fusion, Salesforce, Mulesoft, Avalara, RecVue, BI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Program Manager (USA), Project Manager (India)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 Apps (Customer Hub, NexSTAR), Technical Support Engineers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Managing critical incidents &amp; urgent issues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Collaborating with end users &amp; business teams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Process mgmt, communication, metrics, risk &amp; issues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Offshore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(India)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L2/L3 Support Engineers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QA &amp; Testing Engineers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Integration Monitoring Team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Resolving tickets &amp; documentation updates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Playbook &amp; runbook creation, minor enhancements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Monitoring</a:t>
                      </a:r>
                      <a:endParaRPr lang="en-US" sz="8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154680"/>
            <a:ext cx="8412480" cy="5943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48640" y="3154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of governance, SMEs &amp; Business Engagement Mgrs during 5 AM – 5 PM PST.  80% of engineers in same window.  BayOne Pleasanton to McGrath Livermore — 15 minutes.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Automation Enablement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Three-Horizon Roadmap for Intelligent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Automation — Three-Horizon Roadmap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58368"/>
            <a:ext cx="2697480" cy="5943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658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1–6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252728"/>
            <a:ext cx="2697480" cy="292608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1252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Efficiency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1545336"/>
            <a:ext cx="2697480" cy="20116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1627632"/>
            <a:ext cx="2478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FreshService ticket auto-classification &amp; routing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 failure alerting &amp; auto-restart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Oracle quarterly patch regression testing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base auto-population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658368"/>
            <a:ext cx="2697480" cy="5943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46120" y="658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4612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6–12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46120" y="1252728"/>
            <a:ext cx="2697480" cy="292608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46120" y="1252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Intelligence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46120" y="1545336"/>
            <a:ext cx="2697480" cy="20116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55848" y="1627632"/>
            <a:ext cx="2478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ticket volume forecasting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Intelligent invoice matching &amp; reconciliation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Self-service portal enhancements (Customer Hub)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MBR/QBR report generation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126480" y="658368"/>
            <a:ext cx="2697480" cy="5943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26480" y="658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 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0" y="9601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5F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2+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1252728"/>
            <a:ext cx="2697480" cy="292608"/>
          </a:xfrm>
          <a:prstGeom prst="rect">
            <a:avLst/>
          </a:prstGeom>
          <a:solidFill>
            <a:srgbClr val="EDE5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26480" y="12527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26480" y="1545336"/>
            <a:ext cx="2697480" cy="20116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36208" y="1627632"/>
            <a:ext cx="2478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NexSTAR legacy code modernization via AI agents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Predictive cash flow analytics (CFO office)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AI for process orchestration</a:t>
            </a:r>
            <a:endParaRPr lang="en-US" sz="9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Conversational support BOTs for end users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Led by Colin Moore, Director of AI  •  Enterprise AI/ML at Coherent Corp  •  CI/CD automation &amp; legacy UI conversion for Cisco  •  BayOne’s AI practice leader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&amp; Reporting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Category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KPIs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Cost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Budget conformance  •  Effort variance  •  Productivity improvement  •  Cost per case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Quality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% First Time Resolution  •  % Tickets reopened  •  CSAT ratings  •  Enhancement defect leakage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% SLA adherence  •  Schedule variance  •  MTTR  •  Case age</a:t>
                      </a:r>
                      <a:endParaRPr lang="en-US" sz="9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1: Define KPIs with McGrath  |  Phase 2 (H2 2026): Baseline &amp; track  |  Jan 2027+: Full SLA compliance with remedies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Assumptions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8412480" cy="310896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  Monthly ticket volume ~1,400 L2/L3; complexity: 30% simple, 50% medium, 20% complex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" y="987552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9875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2.  Resolution: Simple 1 hr, Medium 3 hrs, Complex 8 hrs. P1/P2 &lt;10%, P3/P4 &gt;90%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65760" y="1335024"/>
            <a:ext cx="8412480" cy="310896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3350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  Phase 1 baselines actuals. Deviations (±10%) trigger change request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5760" y="1682496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6824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4.  All functional stakeholders available during Phase 1 discovery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2029968"/>
            <a:ext cx="8412480" cy="310896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20299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  Production-replica environment available for troubleshooting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2377440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377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6.  Most MuleSoft integrations migrating to OIC; pricing reflects post-migration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" y="2724912"/>
            <a:ext cx="8412480" cy="310896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27249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  Structured KT and handover documentation from incumbent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3072384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0723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  3rd-party vendor coordination (Oracle, Salesforce, RecVue, Avalara)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3419856"/>
            <a:ext cx="8412480" cy="310896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419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  Ticketing tools, documentation, communication channels from Day 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65760" y="3767328"/>
            <a:ext cx="8412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767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  COLA applicable per contract terms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4008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Risk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Mitigation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KT &amp; Documentation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McGrath facilitates KT plan; BayOne’s embedded team minimizes dependency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Infrastructure Access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Infra teams provide environment access &amp; approvals; delays tracked as risk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Ticket Volume Uncertainty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Phase 1 baselines actuals; phased pricing with adjustment mechanisms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Integration Stability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Robust monitoring; shadow &amp; reverse shadow validate health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Geopolitical Scenarios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BayOne operates from USA, Canada, Philippines, Costa Rica &amp; India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Attrition Knowledge Gap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Succession planning, contingent pool, KM reduces dependency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Incumbent Knowledge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BayOne embedded at MGRC; rebadging critical resources with approval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Asks from McGrath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68580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749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 Facilitation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0" y="74980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sharing facilitated by McGrath; KT plan co-developed for structured transition from incumbent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1554480"/>
            <a:ext cx="8412480" cy="7315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155448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Support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7440" y="16184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 setup, system access, and approvals provided by McGrath infrastructure teams in a timely manner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8412480" cy="7315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42316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Sharing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377440" y="24871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information required for support operations shared by incumbent. Delays beyond reasonable time may impact SLAs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291840"/>
            <a:ext cx="8412480" cy="7315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5760" y="329184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Sign-offs &amp; Approvals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377440" y="33558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Entry/exit criteria sign-offs, all necessary approvals, software licensing, and timely access provisioning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Relevant Enterprise Engagements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Oracle Fusion Cloud HCM Implementation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4023360" cy="13716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640080"/>
            <a:ext cx="402336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713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Scenario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60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security agency. Complex multi-category workforce. Fragmented legacy systems. End-to-end Oracle Fusion Cloud HCM: Core HR, Payroll, Absence, Talent, Learning, Recruiting. 30,000+ records migrated.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640080"/>
            <a:ext cx="4114800" cy="13716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640080"/>
            <a:ext cx="4114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713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960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Fusion Cloud HCM, OIC, Oracle Analytics Cloud, VBCS, Oracle Content Mgmt, OCI, Identity Cloud (RBAC, MFA). SIT, UAT, payroll parallel run.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22402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240280"/>
            <a:ext cx="1828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572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Payroll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(12→3 days)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31720" y="22402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31720" y="2240280"/>
            <a:ext cx="1828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3317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98.6%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4231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Accuracy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97680" y="22402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97680" y="2240280"/>
            <a:ext cx="1828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976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43891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Adoption (3 mo)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63640" y="22402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63640" y="224028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636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3550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Payroll Error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Reduction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Oracle Fusion HCM Managed Services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640080"/>
            <a:ext cx="841248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71323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Post-implementation managed services. SLA-driven incident management (P1–P4), quarterly updates, 260 enhancement hours, security governance, knowledge base, performance optimization.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7830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1828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95.7%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31720" y="17830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31720" y="1783080"/>
            <a:ext cx="1828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317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42316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P1 Adherence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97680" y="17830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97680" y="1783080"/>
            <a:ext cx="1828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976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389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63640" y="17830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63640" y="178308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636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35508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Satisfaction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Oracle EBS Support (12+ Year Partnership)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leader in materials &amp; laser technologies. 30+ sites. EBS 11i→R12 upgrade, M&amp;A mergers, Finance/HCM/Procurement/WMS. 25+ BIP reports. Oracle Cloud advisory.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Enterprise IT Operations Transformation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4023360" cy="18288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640080"/>
            <a:ext cx="402336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713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9601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front/back office for enterprise contingent worker program. SOW renewals, onboarding, invoice mgmt, incident resolution. L1/L2, 99% SLA requirement.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640080"/>
            <a:ext cx="4114800" cy="182880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640080"/>
            <a:ext cx="4114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0600" y="713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9601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Centralized ops, real-time analytics, automation.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20% cost optimization Day 1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Seamless transition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15% manual effort reduction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Enhanced efficiency &amp; CX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6974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697480"/>
            <a:ext cx="1828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&gt;4.4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5720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CSAT Score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31720" y="26974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31720" y="2697480"/>
            <a:ext cx="1828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33172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&gt;5K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42316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Tickets / Qtr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97680" y="26974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97680" y="2697480"/>
            <a:ext cx="1828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9768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438912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Adherence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63640" y="269748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63640" y="269748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636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35508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Apps Supported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BayOne Team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Proposed Account Management Structure &amp; Key Biographies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Account Management Team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2560320" cy="10972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640080"/>
            <a:ext cx="256032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extracted_images/ppt/media/image1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749808"/>
            <a:ext cx="685800" cy="68580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713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Sponsor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280160" y="896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Surej KP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8016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CEO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200400" y="640080"/>
            <a:ext cx="2560320" cy="10972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0" y="640080"/>
            <a:ext cx="256032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extracted_images/ppt/media/image1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749808"/>
            <a:ext cx="685800" cy="68580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0" y="713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Owner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4114800" y="896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Neha Malhotra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11480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VP, Growth &amp; Customer Success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035040" y="640080"/>
            <a:ext cx="2560320" cy="109728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035040" y="640080"/>
            <a:ext cx="256032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extracted_images/ppt/media/image1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749808"/>
            <a:ext cx="685800" cy="685800"/>
          </a:xfrm>
          <a:prstGeom prst="ellipse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7132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Exec Sponsor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6949440" y="896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Sripriya K.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49440" y="1152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CTO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274320" y="1965960"/>
            <a:ext cx="2011680" cy="10058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274320" y="1965960"/>
            <a:ext cx="20116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extracted_images/ppt/media/image1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084832"/>
            <a:ext cx="594360" cy="594360"/>
          </a:xfrm>
          <a:prstGeom prst="ellipse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24128" y="2029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Sr. Relationship Manager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102412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Zahra Syed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24128" y="2423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Co-Account Owner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2377440" y="1965960"/>
            <a:ext cx="2011680" cy="10058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2377440" y="1965960"/>
            <a:ext cx="20116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extracted_images/ppt/media/image1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2084832"/>
            <a:ext cx="594360" cy="594360"/>
          </a:xfrm>
          <a:prstGeom prst="ellipse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127248" y="2029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Manager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312724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 Grover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127248" y="2423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VP, Solutions &amp; Delivery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4480560" y="1965960"/>
            <a:ext cx="2011680" cy="10058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4480560" y="1965960"/>
            <a:ext cx="20116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extracted_images/ppt/media/image1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084832"/>
            <a:ext cx="594360" cy="594360"/>
          </a:xfrm>
          <a:prstGeom prst="ellipse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230368" y="2029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of AI</a:t>
            </a:r>
            <a:endParaRPr lang="en-US" sz="750" dirty="0"/>
          </a:p>
        </p:txBody>
      </p:sp>
      <p:sp>
        <p:nvSpPr>
          <p:cNvPr id="40" name="Text 31"/>
          <p:cNvSpPr/>
          <p:nvPr/>
        </p:nvSpPr>
        <p:spPr>
          <a:xfrm>
            <a:off x="523036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 Moore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230368" y="2423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Director of AI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6583680" y="1965960"/>
            <a:ext cx="2011680" cy="10058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583680" y="1965960"/>
            <a:ext cx="20116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7" descr="/home/claude/extracted_images/ppt/media/image1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2084832"/>
            <a:ext cx="594360" cy="594360"/>
          </a:xfrm>
          <a:prstGeom prst="ellipse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333488" y="20299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Lead</a:t>
            </a:r>
            <a:endParaRPr lang="en-US" sz="750" dirty="0"/>
          </a:p>
        </p:txBody>
      </p:sp>
      <p:sp>
        <p:nvSpPr>
          <p:cNvPr id="46" name="Text 36"/>
          <p:cNvSpPr/>
          <p:nvPr/>
        </p:nvSpPr>
        <p:spPr>
          <a:xfrm>
            <a:off x="7333488" y="2194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Kishore Elimineti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7333488" y="2423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 Leader</a:t>
            </a:r>
            <a:endParaRPr lang="en-US" sz="750" dirty="0"/>
          </a:p>
        </p:txBody>
      </p:sp>
      <p:sp>
        <p:nvSpPr>
          <p:cNvPr id="48" name="Text 38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Review Cadence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Cadence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Participants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Focus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Weekly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Kishore + MGRC leads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Operational review, ticket health, SLA tracking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Monthly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Neha + Amit + MGRC management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Service delivery, CSAT, resource planning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Quarterly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Neha + Surej + Sripriya + MGRC VP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Strategic review, transformation roadmap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4419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Annual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Full leadership team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Partnership roadmap, long-term planning</a:t>
                      </a:r>
                      <a:endParaRPr lang="en-US" sz="9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Team Biographies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58368"/>
            <a:ext cx="8412480" cy="8412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extracted_images/ppt/media/image1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31520"/>
            <a:ext cx="658368" cy="658368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685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Neha Malhotra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66160" y="6858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 Owner  |  VP, Growth &amp; Customer Success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234440" y="91440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 years proven delivery across technology services, enterprise account leadership, and business operations. Founding BayOne team member, scaling company to $80M+ revenue. Fortune 500 relationships across technology, retail, industrial. Deep knowledge of MGRC’s business, stakeholders, and NextGen. Founded #MakeTechPurple, 500+ women in tech. San Jose State University.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65760" y="1618488"/>
            <a:ext cx="841248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extracted_images/ppt/media/image1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91640"/>
            <a:ext cx="658368" cy="658368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Zahra Syed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66160" y="1645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Sr. Relationship Manager  |  Co-Account Owner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234440" y="187452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account leader building trust-based C-level partnerships. Strong personal relationships with MGRC’s senior IT leadership over multiple years. Unique insight into organizational priorities and decision-making. Day-to-day bridge between BayOne delivery and MGRC. UC Irvine.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65760" y="2578608"/>
            <a:ext cx="8412480" cy="8412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extracted_images/ppt/media/image1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51760"/>
            <a:ext cx="658368" cy="658368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606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Surej KP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566160" y="2606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Sponsor  |  CEO &amp; Board Member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234440" y="283464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technology executive. Previously CEO Intelliswift Software; CTO &amp; President UST Global; Practice Head Cognizant; Regional Director TCS. Harvard Executive Leadership Development Program. C-suite escalation access with personal commitment to MGRC partnership.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365760" y="3538728"/>
            <a:ext cx="8412480" cy="8412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extracted_images/ppt/media/image1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11880"/>
            <a:ext cx="658368" cy="658368"/>
          </a:xfrm>
          <a:prstGeom prst="ellipse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566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Amit Grover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566160" y="3566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Delivery Manager  |  VP, Solutions &amp; Delivery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1234440" y="379476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Seasoned delivery executive. Previously Sr. Regional Director HCL Technologies (70+ professionals); Sr. Manager Infosys (Supply Chain, Finance); Service Delivery Manager Zensar ($25M+ IT Ops). Based at BayOne Pleasanton. BITS Pilani. MGRC delivery escalation point.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Team Biographies (continued)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58368"/>
            <a:ext cx="8412480" cy="960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claude/extracted_images/ppt/media/image1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49808"/>
            <a:ext cx="685800" cy="685800"/>
          </a:xfrm>
          <a:prstGeom prst="ellipse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704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Sripriya Kalyanasundaram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023360" y="704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Executive Sponsor  |  CTO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280160" y="932688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Technology leader advising C-level executives on digital transformation through human-centered design thinking. Harvard Business School. Previously President LambdaTest; Deloitte Consulting; SVP UiPath; Global Delivery Leader Cognizant Digital Business. AI-first mindset champion. Executive technical oversight for MGRC.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65760" y="1755648"/>
            <a:ext cx="841248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extracted_images/ppt/media/image1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47088"/>
            <a:ext cx="685800" cy="68580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1801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 Moore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023360" y="18013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of AI &amp; Innovation  |  Director of AI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1280160" y="2029968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Leads BayOne’s AI practice. Previously AI/ML Manager Coherent Corp. Core expertise: AI, LLMs, Deep Learning, Intelligent Process Automation. Delivered CI/CD pipeline automation and legacy UI conversion for Cisco. Leads three-horizon AI enablement roadmap for MGRC. Duquesne University.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365760" y="2852928"/>
            <a:ext cx="8412480" cy="96012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extracted_images/ppt/media/image1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44368"/>
            <a:ext cx="685800" cy="685800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Kishore Elimineti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023360" y="2898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29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Program Lead  |  Program Leader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280160" y="3127248"/>
            <a:ext cx="7360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ERP, Cloud, AI Strategy &amp; Transformation Leader. $100M+ programs including end-to-end Oracle Fusion Cloud implementations. Former Oracle Corporation — Fusion Cloud at Redwood City, SAFe adoption, $5.3B Micros M&amp;A integration. Oracle Fusion Cloud migrations at Albertsons. Currently embedded at MGRC leading NextGen transformation. Indian School of Business.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164592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Services Investment Summary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Managed Service Commercials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58368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Phase 1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Year 1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Year 2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Year 3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1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$738,400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$4,867,200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$3,889,600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$2,828,800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4419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$12,324,000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57200" y="1645920"/>
          <a:ext cx="38404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3"/>
          <p:cNvSpPr/>
          <p:nvPr/>
        </p:nvSpPr>
        <p:spPr>
          <a:xfrm>
            <a:off x="4572000" y="1691640"/>
            <a:ext cx="2011680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45720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 Savings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6766560" y="1691640"/>
            <a:ext cx="2011680" cy="502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76656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3 Savings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0" y="2286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Driven by automation, process maturity,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multi-skilling efficiencies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65760" y="2880360"/>
            <a:ext cx="8412480" cy="347472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65760" y="288036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02920" y="28803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Bundled managed services pricing. Individual components may vary.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65760" y="329184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02920" y="3291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investing shadow resources during transition at no additional cost.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65760" y="3703320"/>
            <a:ext cx="8412480" cy="347472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65760" y="3703320"/>
            <a:ext cx="841248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02920" y="37033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 based on assumptions; actuals baselined during Phase 1.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Sets BayOne Apart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65760" y="640080"/>
            <a:ext cx="3931920" cy="36576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640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Typical MSP Vendor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640080"/>
            <a:ext cx="3931920" cy="365760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46320" y="640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for McGrath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097280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097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3–6 month KT ramp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1097280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1097280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10972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KT risk — 5 embedded resources already inside MGRC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1097280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43400" y="1097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" y="1536192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1536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institutional knowledge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0" y="1536192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1536192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83480" y="15361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$300–500K saved in transition costs from Day 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43400" y="1536192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43400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65760" y="1975104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1975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 delivery center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46320" y="1975104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46320" y="1975104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83480" y="197510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HQ in Pleasanton, CA — 15 min from Livermore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343400" y="1975104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343400" y="19751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65760" y="2414016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57200" y="24140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Generic staffing approach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846320" y="2414016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846320" y="2414016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983480" y="24140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Governance-led MSP with tiered SLA accountability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343400" y="2414016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343400" y="2414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65760" y="2852928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57200" y="2852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Bid-and-run model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46320" y="2852928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846320" y="2852928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83480" y="285292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sprint investment before contract finalization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343400" y="2852928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343400" y="28529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65760" y="3291840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5720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Checkbox diversity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46320" y="3291840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846320" y="3291840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983480" y="3291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46% women in delivery, 500+ women placed via #MakeTechPurple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343400" y="3291840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343400" y="3291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365760" y="3730752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457200" y="37307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One-size-fits-all pricing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846320" y="3730752"/>
            <a:ext cx="3931920" cy="384048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4846320" y="3730752"/>
            <a:ext cx="36576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983480" y="3730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Phased model with progressive 20–27% YoY optimization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343400" y="3730752"/>
            <a:ext cx="4572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343400" y="37307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"/>
            <a:ext cx="91440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457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#MakeTechPurple Initiative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Bridging the gender divide in tech through dynamic upskilling and reskilling programs, ensuring women secure and thrive in lasting tech careers.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182880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Women Placed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Tech Careers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23160" y="11430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23160" y="1143000"/>
            <a:ext cx="18288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231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26%→46%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51460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Women Hiring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 Growth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89120" y="11430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0" y="1143000"/>
            <a:ext cx="1828800" cy="3200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NMSDC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448056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MBE Certified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Diverse Supplier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55080" y="1143000"/>
            <a:ext cx="1828800" cy="105156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55080" y="1143000"/>
            <a:ext cx="1828800" cy="3200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5508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446520" y="1737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Veterans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Workforce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65760" y="2423160"/>
            <a:ext cx="2697480" cy="14630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65760" y="2423160"/>
            <a:ext cx="269748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5488" y="249631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Cohorts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" y="2743200"/>
            <a:ext cx="2478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10–15 women from underserved communities receive 1–3 months of pro-bono technical training in AI and Software Engineering through enterprise partnerships.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46120" y="2423160"/>
            <a:ext cx="2697480" cy="14630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246120" y="2423160"/>
            <a:ext cx="269748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355848" y="249631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Girl Empowerment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55848" y="2743200"/>
            <a:ext cx="2478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Partnering with Pleasanton USD to mentor middle &amp; high school girls. Apprenticeships and scholarships to Girls Who Code, nurturing the next generation.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26480" y="2423160"/>
            <a:ext cx="2697480" cy="1463040"/>
          </a:xfrm>
          <a:prstGeom prst="rect">
            <a:avLst/>
          </a:prstGeom>
          <a:solidFill>
            <a:srgbClr val="F5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126480" y="2423160"/>
            <a:ext cx="2697480" cy="32004"/>
          </a:xfrm>
          <a:prstGeom prst="rect">
            <a:avLst/>
          </a:prstGeom>
          <a:solidFill>
            <a:srgbClr val="8441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236208" y="249631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BayOne Delivery Impact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36208" y="2743200"/>
            <a:ext cx="24780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Fair selection processes, Rooney Rule, and AI-powered diverse sourcing grew women’s hiring from 26% to 46% in four years. Diversity is embedded in our delivery DNA.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_images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Vendor With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Operational Readiness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200400" y="2103120"/>
            <a:ext cx="2743200" cy="32004"/>
          </a:xfrm>
          <a:prstGeom prst="rect">
            <a:avLst/>
          </a:prstGeom>
          <a:solidFill>
            <a:srgbClr val="CC29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441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Embedded resources inside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MGRC’s NextGen program today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52044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C2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52044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Knowledge transfer risk.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other bidder can claim this.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0" y="2377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BayOne Pleasanton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McGrath Livermore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Neha Malhotra  |  VP, Growth &amp; Customer Success  |  neha.malhotra@bayone.com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4114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Confidential  |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3728</Words>
  <Application>Microsoft Office PowerPoint</Application>
  <PresentationFormat>On-screen Show (16:9)</PresentationFormat>
  <Paragraphs>702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McGrath RentCorp | NextGen Managed Services</dc:title>
  <dc:subject>PptxGenJS Presentation</dc:subject>
  <dc:creator>BayOne Solutions</dc:creator>
  <cp:lastModifiedBy>Colin Moore</cp:lastModifiedBy>
  <cp:revision>4</cp:revision>
  <dcterms:created xsi:type="dcterms:W3CDTF">2026-03-23T04:33:49Z</dcterms:created>
  <dcterms:modified xsi:type="dcterms:W3CDTF">2026-03-23T20:44:32Z</dcterms:modified>
</cp:coreProperties>
</file>